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60" r:id="rId2"/>
    <p:sldId id="257" r:id="rId3"/>
    <p:sldId id="288" r:id="rId4"/>
    <p:sldId id="289" r:id="rId5"/>
    <p:sldId id="299" r:id="rId6"/>
    <p:sldId id="291" r:id="rId7"/>
    <p:sldId id="292" r:id="rId8"/>
    <p:sldId id="300" r:id="rId9"/>
    <p:sldId id="301" r:id="rId10"/>
    <p:sldId id="293" r:id="rId11"/>
    <p:sldId id="294" r:id="rId12"/>
    <p:sldId id="295" r:id="rId13"/>
    <p:sldId id="296" r:id="rId14"/>
    <p:sldId id="297" r:id="rId15"/>
    <p:sldId id="298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706" autoAdjust="0"/>
  </p:normalViewPr>
  <p:slideViewPr>
    <p:cSldViewPr>
      <p:cViewPr varScale="1">
        <p:scale>
          <a:sx n="67" d="100"/>
          <a:sy n="67" d="100"/>
        </p:scale>
        <p:origin x="5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C5132-FFA3-4B02-9F09-22FCF40EFA74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0D7-F8F1-4196-9585-26F31AFC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E42C9-243F-4DC5-AFF6-9D56B5FA9D63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EC444-603B-4F09-9A06-5917518DD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E3111D9D-D3C9-4E17-96FD-03F9D8077B7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081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C4F97-2946-4FE6-A7C1-2F60C1DD7F85}" type="datetimeFigureOut">
              <a:rPr lang="id-ID"/>
              <a:pPr>
                <a:defRPr/>
              </a:pPr>
              <a:t>20/02/2018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B7447-4B05-4DDD-976E-2477348B0652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80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7230"/>
            <a:ext cx="10515600" cy="9934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8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BD8934-DD9F-4353-B95A-4272E31DFD01}" type="datetimeFigureOut">
              <a:rPr lang="id-ID"/>
              <a:pPr>
                <a:defRPr/>
              </a:pPr>
              <a:t>20/02/2018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6D58-4606-44E7-B65B-D3CEEE33D4F0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70273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5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34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4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8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2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7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73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0FE2824-C2A0-4931-BB32-60B24BDBB3CC}" type="datetimeFigureOut">
              <a:rPr lang="en-US" smtClean="0"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1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fld id="{B0FE2824-C2A0-4931-BB32-60B24BDBB3CC}" type="datetimeFigureOut">
              <a:rPr lang="en-US" smtClean="0"/>
              <a:pPr/>
              <a:t>2/20/2018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fld id="{B13333A4-2EF1-4B79-B68C-AB20E66B48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  <a:cs typeface="ＭＳ Ｐゴシック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  <a:cs typeface="ＭＳ Ｐゴシック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  <a:cs typeface="ＭＳ Ｐゴシック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mailto:mira.suryani@unpad.ac.i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0"/>
            <a:ext cx="2352675" cy="781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66651"/>
            <a:ext cx="12192000" cy="6191349"/>
          </a:xfrm>
          <a:prstGeom prst="rect">
            <a:avLst/>
          </a:prstGeom>
        </p:spPr>
      </p:pic>
      <p:sp>
        <p:nvSpPr>
          <p:cNvPr id="4099" name="TextBox 1"/>
          <p:cNvSpPr txBox="1">
            <a:spLocks noChangeArrowheads="1"/>
          </p:cNvSpPr>
          <p:nvPr/>
        </p:nvSpPr>
        <p:spPr bwMode="auto">
          <a:xfrm>
            <a:off x="9629588" y="1787396"/>
            <a:ext cx="2489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S-1 </a:t>
            </a:r>
            <a:r>
              <a:rPr lang="en-US" sz="2000" dirty="0" err="1"/>
              <a:t>Teknik</a:t>
            </a:r>
            <a:r>
              <a:rPr lang="en-US" sz="2000" dirty="0"/>
              <a:t> </a:t>
            </a:r>
            <a:r>
              <a:rPr lang="en-US" sz="2000" dirty="0" err="1"/>
              <a:t>Informatika</a:t>
            </a:r>
            <a:endParaRPr lang="en-US" sz="2000" dirty="0"/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3260945" y="351304"/>
            <a:ext cx="867705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4400" b="1" dirty="0" smtClean="0"/>
              <a:t>INTRODUCTION TO USER INTERFACE</a:t>
            </a:r>
            <a:endParaRPr lang="en-US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352114" y="2102743"/>
            <a:ext cx="2844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Jatinangor</a:t>
            </a:r>
            <a:r>
              <a:rPr lang="en-US" dirty="0"/>
              <a:t>, </a:t>
            </a:r>
            <a:r>
              <a:rPr lang="en-US" dirty="0" smtClean="0"/>
              <a:t>20 </a:t>
            </a:r>
            <a:r>
              <a:rPr lang="en-US" dirty="0" err="1" smtClean="0"/>
              <a:t>Februari</a:t>
            </a:r>
            <a:r>
              <a:rPr lang="en-US" dirty="0" smtClean="0"/>
              <a:t> 2018</a:t>
            </a:r>
            <a:endParaRPr lang="en-US" dirty="0"/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8929548" y="1063035"/>
            <a:ext cx="30084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2000" dirty="0"/>
              <a:t>Mira Suryani, </a:t>
            </a:r>
            <a:r>
              <a:rPr lang="en-US" sz="2000" dirty="0" err="1"/>
              <a:t>S.Pd</a:t>
            </a:r>
            <a:r>
              <a:rPr lang="en-US" sz="2000" dirty="0"/>
              <a:t>., </a:t>
            </a:r>
            <a:r>
              <a:rPr lang="en-US" sz="2000" dirty="0" err="1" smtClean="0"/>
              <a:t>M.Kom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81309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0273" y="405851"/>
            <a:ext cx="10515600" cy="993458"/>
          </a:xfrm>
        </p:spPr>
        <p:txBody>
          <a:bodyPr/>
          <a:lstStyle/>
          <a:p>
            <a:r>
              <a:rPr lang="en-US" b="1" dirty="0"/>
              <a:t>MIRA SURYANI, </a:t>
            </a:r>
            <a:r>
              <a:rPr lang="en-US" b="1" dirty="0" err="1"/>
              <a:t>SPd</a:t>
            </a:r>
            <a:r>
              <a:rPr lang="en-US" b="1" dirty="0"/>
              <a:t>., </a:t>
            </a:r>
            <a:r>
              <a:rPr lang="en-US" b="1" dirty="0" err="1"/>
              <a:t>M.Kom|MCE</a:t>
            </a:r>
            <a:endParaRPr lang="en-US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29491" y="1371600"/>
            <a:ext cx="11490966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200" dirty="0"/>
              <a:t>Email		: </a:t>
            </a:r>
            <a:r>
              <a:rPr lang="en-US" sz="4200" dirty="0">
                <a:hlinkClick r:id="rId2"/>
              </a:rPr>
              <a:t>mira.suryani@unpad.ac.id</a:t>
            </a:r>
            <a:endParaRPr lang="en-US" sz="4200" dirty="0"/>
          </a:p>
          <a:p>
            <a:r>
              <a:rPr lang="en-US" sz="4200" dirty="0"/>
              <a:t>HP/WA		: 0853-2066-9533</a:t>
            </a:r>
          </a:p>
          <a:p>
            <a:r>
              <a:rPr lang="en-US" sz="4200" dirty="0"/>
              <a:t>Free Hours	: </a:t>
            </a:r>
            <a:r>
              <a:rPr lang="en-US" sz="4200" dirty="0" err="1"/>
              <a:t>Senin</a:t>
            </a:r>
            <a:r>
              <a:rPr lang="en-US" sz="4200" dirty="0"/>
              <a:t> &amp; Rabu</a:t>
            </a:r>
          </a:p>
          <a:p>
            <a:r>
              <a:rPr lang="en-US" sz="4200" dirty="0"/>
              <a:t>Office		: </a:t>
            </a:r>
            <a:r>
              <a:rPr lang="en-US" sz="4200" dirty="0" err="1"/>
              <a:t>Ruang</a:t>
            </a:r>
            <a:r>
              <a:rPr lang="en-US" sz="4200" dirty="0"/>
              <a:t> </a:t>
            </a:r>
            <a:r>
              <a:rPr lang="en-US" sz="4200" dirty="0" err="1"/>
              <a:t>Dosen</a:t>
            </a:r>
            <a:r>
              <a:rPr lang="en-US" sz="4200" dirty="0"/>
              <a:t>/Lab Raid (Ex. Hardware)</a:t>
            </a:r>
          </a:p>
          <a:p>
            <a:r>
              <a:rPr lang="en-US" sz="4200" dirty="0"/>
              <a:t>Research Interest : </a:t>
            </a:r>
            <a:r>
              <a:rPr lang="en-US" sz="3800" dirty="0"/>
              <a:t>online education, </a:t>
            </a:r>
          </a:p>
          <a:p>
            <a:r>
              <a:rPr lang="en-US" sz="3800" dirty="0"/>
              <a:t>                                      information retrieval,</a:t>
            </a:r>
          </a:p>
          <a:p>
            <a:r>
              <a:rPr lang="en-US" sz="3800" dirty="0"/>
              <a:t>                                      artificial intelligence,</a:t>
            </a:r>
          </a:p>
          <a:p>
            <a:r>
              <a:rPr lang="en-US" sz="3800" dirty="0"/>
              <a:t>                                      human computer interaction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BF62C72-AB92-41C9-BBFC-91B31A27BC8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35" t="11515" r="8772" b="13122"/>
          <a:stretch/>
        </p:blipFill>
        <p:spPr>
          <a:xfrm>
            <a:off x="9525000" y="990600"/>
            <a:ext cx="2395457" cy="226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fld id="{AB43FC21-6817-4A95-801F-1ADC71C08072}" type="slidenum">
              <a:rPr lang="en-US" smtClean="0">
                <a:solidFill>
                  <a:srgbClr val="898989"/>
                </a:solidFill>
              </a:rPr>
              <a:pPr/>
              <a:t>3</a:t>
            </a:fld>
            <a:endParaRPr lang="en-US" smtClean="0">
              <a:solidFill>
                <a:srgbClr val="89898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86000" y="2286000"/>
            <a:ext cx="790498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dirty="0" smtClean="0"/>
              <a:t>Usability </a:t>
            </a:r>
            <a:r>
              <a:rPr lang="en-US" sz="4800" dirty="0"/>
              <a:t>is about creating </a:t>
            </a:r>
            <a:endParaRPr lang="en-US" sz="4800" dirty="0" smtClean="0"/>
          </a:p>
          <a:p>
            <a:pPr algn="ctr"/>
            <a:r>
              <a:rPr lang="en-US" sz="4800" b="1" dirty="0" smtClean="0"/>
              <a:t>EFFECTIVE</a:t>
            </a:r>
            <a:r>
              <a:rPr lang="en-US" sz="4800" dirty="0" smtClean="0"/>
              <a:t> </a:t>
            </a:r>
            <a:r>
              <a:rPr lang="en-US" sz="4800" dirty="0"/>
              <a:t>user interfaces (UIs)</a:t>
            </a:r>
          </a:p>
        </p:txBody>
      </p:sp>
    </p:spTree>
    <p:extLst>
      <p:ext uri="{BB962C8B-B14F-4D97-AF65-F5344CB8AC3E}">
        <p14:creationId xmlns:p14="http://schemas.microsoft.com/office/powerpoint/2010/main" val="2793831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4" y="304800"/>
            <a:ext cx="8562975" cy="1325563"/>
          </a:xfrm>
        </p:spPr>
        <p:txBody>
          <a:bodyPr/>
          <a:lstStyle/>
          <a:p>
            <a:r>
              <a:rPr lang="en-US" b="1" dirty="0" smtClean="0"/>
              <a:t>User Interface Hall of </a:t>
            </a:r>
            <a:r>
              <a:rPr lang="en-US" b="1" dirty="0" smtClean="0"/>
              <a:t>Shame #1</a:t>
            </a:r>
            <a:endParaRPr lang="en-US" b="1" dirty="0" smtClean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5983289"/>
            <a:ext cx="3978275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  <p:pic>
        <p:nvPicPr>
          <p:cNvPr id="13316" name="Picture 3" descr="award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27164"/>
            <a:ext cx="5715000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341313" y="6211095"/>
            <a:ext cx="24780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1" dirty="0">
                <a:solidFill>
                  <a:srgbClr val="001963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Source: Interface Hall of Shame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477000" y="1427164"/>
            <a:ext cx="308802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smtClean="0"/>
              <a:t>Graphical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smtClean="0"/>
              <a:t>Mouse-driven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smtClean="0"/>
              <a:t>WYSIWYG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7320465" y="3886200"/>
            <a:ext cx="35968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APA YANG ANEH</a:t>
            </a:r>
          </a:p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???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3225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4" y="304800"/>
            <a:ext cx="8562975" cy="1325563"/>
          </a:xfrm>
        </p:spPr>
        <p:txBody>
          <a:bodyPr/>
          <a:lstStyle/>
          <a:p>
            <a:r>
              <a:rPr lang="en-US" b="1" dirty="0" smtClean="0"/>
              <a:t>User Interface Hall of </a:t>
            </a:r>
            <a:r>
              <a:rPr lang="en-US" b="1" dirty="0" smtClean="0"/>
              <a:t>Shame #1</a:t>
            </a:r>
            <a:endParaRPr lang="en-US" b="1" dirty="0" smtClean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7268" y="5983289"/>
            <a:ext cx="3978275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  <p:pic>
        <p:nvPicPr>
          <p:cNvPr id="13316" name="Picture 3" descr="award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268" y="1427164"/>
            <a:ext cx="5715000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663781" y="6211095"/>
            <a:ext cx="24780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1" dirty="0">
                <a:solidFill>
                  <a:srgbClr val="001963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Source: Interface Hall of Shame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55868" y="1858169"/>
            <a:ext cx="1371600" cy="309483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75068" y="4876800"/>
            <a:ext cx="4191000" cy="4572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180468" y="2608958"/>
            <a:ext cx="356373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HELP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smtClean="0"/>
              <a:t>POOR SCROLL BAR</a:t>
            </a:r>
          </a:p>
        </p:txBody>
      </p:sp>
    </p:spTree>
    <p:extLst>
      <p:ext uri="{BB962C8B-B14F-4D97-AF65-F5344CB8AC3E}">
        <p14:creationId xmlns:p14="http://schemas.microsoft.com/office/powerpoint/2010/main" val="2481092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5"/>
          <p:cNvSpPr>
            <a:spLocks noGrp="1" noChangeArrowheads="1"/>
          </p:cNvSpPr>
          <p:nvPr>
            <p:ph type="title"/>
          </p:nvPr>
        </p:nvSpPr>
        <p:spPr>
          <a:xfrm>
            <a:off x="647700" y="228600"/>
            <a:ext cx="7886700" cy="1325563"/>
          </a:xfrm>
        </p:spPr>
        <p:txBody>
          <a:bodyPr/>
          <a:lstStyle/>
          <a:p>
            <a:r>
              <a:rPr lang="en-US" b="1" dirty="0" smtClean="0"/>
              <a:t>The Example, Redesigned</a:t>
            </a:r>
          </a:p>
        </p:txBody>
      </p:sp>
      <p:pic>
        <p:nvPicPr>
          <p:cNvPr id="15363" name="Picture 4" descr="award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6535737" cy="422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6"/>
          <p:cNvSpPr>
            <a:spLocks noChangeArrowheads="1"/>
          </p:cNvSpPr>
          <p:nvPr/>
        </p:nvSpPr>
        <p:spPr bwMode="auto">
          <a:xfrm>
            <a:off x="762000" y="5972970"/>
            <a:ext cx="2478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1" dirty="0">
                <a:solidFill>
                  <a:srgbClr val="001963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Source: Interface Hall of Shame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62000" y="5669757"/>
            <a:ext cx="3959225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7086600" y="2667000"/>
            <a:ext cx="4958217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3200" dirty="0" smtClean="0"/>
              <a:t>No </a:t>
            </a:r>
            <a:r>
              <a:rPr lang="en-US" sz="3200" dirty="0"/>
              <a:t>help message is </a:t>
            </a:r>
            <a:r>
              <a:rPr lang="en-US" sz="3200" dirty="0" smtClean="0"/>
              <a:t>needed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3200" dirty="0" smtClean="0"/>
              <a:t>Good for trivial user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731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57176"/>
            <a:ext cx="8686800" cy="1325563"/>
          </a:xfrm>
        </p:spPr>
        <p:txBody>
          <a:bodyPr/>
          <a:lstStyle/>
          <a:p>
            <a:r>
              <a:rPr lang="en-US" b="1" dirty="0"/>
              <a:t>User Interface Hall of </a:t>
            </a:r>
            <a:r>
              <a:rPr lang="en-US" b="1" dirty="0" smtClean="0"/>
              <a:t>Shame #2</a:t>
            </a:r>
            <a:endParaRPr lang="en-US" dirty="0" smtClean="0"/>
          </a:p>
        </p:txBody>
      </p:sp>
      <p:pic>
        <p:nvPicPr>
          <p:cNvPr id="16387" name="Picture 4" descr="autotim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1871663"/>
            <a:ext cx="49530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autoti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1" y="1487487"/>
            <a:ext cx="366712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reeform 6"/>
          <p:cNvSpPr>
            <a:spLocks/>
          </p:cNvSpPr>
          <p:nvPr/>
        </p:nvSpPr>
        <p:spPr bwMode="auto">
          <a:xfrm>
            <a:off x="5489575" y="3170237"/>
            <a:ext cx="838200" cy="1054100"/>
          </a:xfrm>
          <a:custGeom>
            <a:avLst/>
            <a:gdLst>
              <a:gd name="T0" fmla="*/ 2147483646 w 840"/>
              <a:gd name="T1" fmla="*/ 0 h 568"/>
              <a:gd name="T2" fmla="*/ 2147483646 w 840"/>
              <a:gd name="T3" fmla="*/ 2147483646 h 568"/>
              <a:gd name="T4" fmla="*/ 2147483646 w 840"/>
              <a:gd name="T5" fmla="*/ 2147483646 h 568"/>
              <a:gd name="T6" fmla="*/ 0 60000 65536"/>
              <a:gd name="T7" fmla="*/ 0 60000 65536"/>
              <a:gd name="T8" fmla="*/ 0 60000 65536"/>
              <a:gd name="T9" fmla="*/ 0 w 840"/>
              <a:gd name="T10" fmla="*/ 0 h 568"/>
              <a:gd name="T11" fmla="*/ 840 w 840"/>
              <a:gd name="T12" fmla="*/ 568 h 5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0" h="568">
                <a:moveTo>
                  <a:pt x="120" y="0"/>
                </a:moveTo>
                <a:cubicBezTo>
                  <a:pt x="60" y="196"/>
                  <a:pt x="0" y="392"/>
                  <a:pt x="120" y="480"/>
                </a:cubicBezTo>
                <a:cubicBezTo>
                  <a:pt x="240" y="568"/>
                  <a:pt x="720" y="520"/>
                  <a:pt x="840" y="528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Ctr="1"/>
          <a:lstStyle/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513512" y="6188075"/>
            <a:ext cx="2478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1" dirty="0">
                <a:solidFill>
                  <a:srgbClr val="001963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Source: Interface Hall of Shame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64300" y="5913437"/>
            <a:ext cx="4051300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114800"/>
            <a:ext cx="35968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APA YANG ANEH</a:t>
            </a:r>
          </a:p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???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12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utotim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775" y="1871663"/>
            <a:ext cx="495300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autoti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1" y="1487487"/>
            <a:ext cx="366712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5"/>
          <p:cNvSpPr>
            <a:spLocks/>
          </p:cNvSpPr>
          <p:nvPr/>
        </p:nvSpPr>
        <p:spPr bwMode="auto">
          <a:xfrm>
            <a:off x="5489575" y="3170237"/>
            <a:ext cx="838200" cy="1054100"/>
          </a:xfrm>
          <a:custGeom>
            <a:avLst/>
            <a:gdLst>
              <a:gd name="T0" fmla="*/ 2147483646 w 840"/>
              <a:gd name="T1" fmla="*/ 0 h 568"/>
              <a:gd name="T2" fmla="*/ 2147483646 w 840"/>
              <a:gd name="T3" fmla="*/ 2147483646 h 568"/>
              <a:gd name="T4" fmla="*/ 2147483646 w 840"/>
              <a:gd name="T5" fmla="*/ 2147483646 h 568"/>
              <a:gd name="T6" fmla="*/ 0 60000 65536"/>
              <a:gd name="T7" fmla="*/ 0 60000 65536"/>
              <a:gd name="T8" fmla="*/ 0 60000 65536"/>
              <a:gd name="T9" fmla="*/ 0 w 840"/>
              <a:gd name="T10" fmla="*/ 0 h 568"/>
              <a:gd name="T11" fmla="*/ 840 w 840"/>
              <a:gd name="T12" fmla="*/ 568 h 5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0" h="568">
                <a:moveTo>
                  <a:pt x="120" y="0"/>
                </a:moveTo>
                <a:cubicBezTo>
                  <a:pt x="60" y="196"/>
                  <a:pt x="0" y="392"/>
                  <a:pt x="120" y="480"/>
                </a:cubicBezTo>
                <a:cubicBezTo>
                  <a:pt x="240" y="568"/>
                  <a:pt x="720" y="520"/>
                  <a:pt x="840" y="528"/>
                </a:cubicBezTo>
              </a:path>
            </a:pathLst>
          </a:custGeom>
          <a:noFill/>
          <a:ln w="50800">
            <a:solidFill>
              <a:schemeClr val="tx1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Ctr="1"/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513512" y="6188075"/>
            <a:ext cx="24780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Ctr="1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1" dirty="0">
                <a:solidFill>
                  <a:srgbClr val="001963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Source: Interface Hall of Shame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64300" y="5913437"/>
            <a:ext cx="4051300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57176"/>
            <a:ext cx="8686800" cy="1325563"/>
          </a:xfrm>
        </p:spPr>
        <p:txBody>
          <a:bodyPr/>
          <a:lstStyle/>
          <a:p>
            <a:r>
              <a:rPr lang="en-US" b="1" dirty="0"/>
              <a:t>User Interface Hall of </a:t>
            </a:r>
            <a:r>
              <a:rPr lang="en-US" b="1" dirty="0" smtClean="0"/>
              <a:t>Shame #2</a:t>
            </a:r>
            <a:endParaRPr lang="en-US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3124200" y="2590800"/>
            <a:ext cx="16764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586663" y="1589088"/>
            <a:ext cx="1676400" cy="4095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010400" y="1998663"/>
            <a:ext cx="2819400" cy="242093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715124" y="4562474"/>
            <a:ext cx="3419475" cy="6953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08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10515600" cy="993458"/>
          </a:xfrm>
        </p:spPr>
        <p:txBody>
          <a:bodyPr/>
          <a:lstStyle/>
          <a:p>
            <a:r>
              <a:rPr lang="en-US" b="1" dirty="0"/>
              <a:t>User Interface Hall of </a:t>
            </a:r>
            <a:r>
              <a:rPr lang="en-US" b="1" dirty="0" smtClean="0"/>
              <a:t>Fame #1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6858"/>
            <a:ext cx="2066759" cy="47240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124200" y="1676400"/>
            <a:ext cx="74969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Intentioned </a:t>
            </a:r>
            <a:r>
              <a:rPr lang="en-US" sz="2800" dirty="0"/>
              <a:t>effort to solve a real usability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33725" y="2503872"/>
            <a:ext cx="733694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BUT…</a:t>
            </a:r>
          </a:p>
          <a:p>
            <a:endParaRPr lang="en-US" sz="2800" dirty="0" smtClean="0"/>
          </a:p>
          <a:p>
            <a:r>
              <a:rPr lang="en-US" sz="2800" dirty="0"/>
              <a:t>	</a:t>
            </a:r>
            <a:r>
              <a:rPr lang="en-US" sz="2800" dirty="0" smtClean="0">
                <a:solidFill>
                  <a:srgbClr val="FF0000"/>
                </a:solidFill>
              </a:rPr>
              <a:t>OFTEN WRONG, INTRUSIVE, ANNOYING !!!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003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" y="349249"/>
            <a:ext cx="7886700" cy="1325563"/>
          </a:xfrm>
        </p:spPr>
        <p:txBody>
          <a:bodyPr/>
          <a:lstStyle/>
          <a:p>
            <a:r>
              <a:rPr lang="en-US" b="1" dirty="0" smtClean="0"/>
              <a:t>The User Interface Is Important</a:t>
            </a:r>
          </a:p>
        </p:txBody>
      </p:sp>
      <p:sp>
        <p:nvSpPr>
          <p:cNvPr id="17411" name="Rectangle 3"/>
          <p:cNvSpPr txBox="1">
            <a:spLocks noChangeArrowheads="1"/>
          </p:cNvSpPr>
          <p:nvPr/>
        </p:nvSpPr>
        <p:spPr bwMode="auto">
          <a:xfrm>
            <a:off x="381000" y="1839912"/>
            <a:ext cx="105918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3600" dirty="0"/>
              <a:t>User interface strongly affects perception of software</a:t>
            </a:r>
          </a:p>
          <a:p>
            <a:pPr lvl="1"/>
            <a:r>
              <a:rPr lang="en-US" sz="3200" dirty="0"/>
              <a:t>Usable software sells better</a:t>
            </a:r>
          </a:p>
          <a:p>
            <a:pPr lvl="1"/>
            <a:r>
              <a:rPr lang="en-US" sz="3200" dirty="0"/>
              <a:t>Unusable web sites are abandoned</a:t>
            </a:r>
          </a:p>
          <a:p>
            <a:r>
              <a:rPr lang="en-US" sz="3600" dirty="0"/>
              <a:t>Perception is sometimes superficial</a:t>
            </a:r>
          </a:p>
          <a:p>
            <a:pPr lvl="1"/>
            <a:r>
              <a:rPr lang="en-US" sz="3200" dirty="0"/>
              <a:t>Users blame themselves for UI failings</a:t>
            </a:r>
          </a:p>
          <a:p>
            <a:pPr lvl="1"/>
            <a:r>
              <a:rPr lang="en-US" sz="3200" dirty="0"/>
              <a:t>People who make buying decisions are not always end-users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bg1"/>
                </a:solidFill>
              </a:rPr>
              <a:t>Disadur</a:t>
            </a:r>
            <a:r>
              <a:rPr lang="en-US" sz="1050" dirty="0">
                <a:solidFill>
                  <a:schemeClr val="bg1"/>
                </a:solidFill>
              </a:rPr>
              <a:t> </a:t>
            </a:r>
            <a:r>
              <a:rPr lang="en-US" sz="1050" dirty="0" err="1">
                <a:solidFill>
                  <a:schemeClr val="bg1"/>
                </a:solidFill>
              </a:rPr>
              <a:t>dari</a:t>
            </a:r>
            <a:r>
              <a:rPr lang="en-US" sz="1050" dirty="0">
                <a:solidFill>
                  <a:schemeClr val="bg1"/>
                </a:solidFill>
              </a:rPr>
              <a:t>  6.813/6.831 User Interface 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289180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00061"/>
            <a:ext cx="7886700" cy="1325563"/>
          </a:xfrm>
        </p:spPr>
        <p:txBody>
          <a:bodyPr/>
          <a:lstStyle/>
          <a:p>
            <a:r>
              <a:rPr lang="en-US" b="1" dirty="0" smtClean="0"/>
              <a:t>The Cost of Getting It Wrong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685800" y="1851025"/>
            <a:ext cx="105918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dirty="0"/>
              <a:t>Users</a:t>
            </a:r>
            <a:r>
              <a:rPr lang="en-US" dirty="0">
                <a:latin typeface="Verdana" panose="020B0604030504040204" pitchFamily="34" charset="0"/>
              </a:rPr>
              <a:t>’</a:t>
            </a:r>
            <a:r>
              <a:rPr lang="en-US" dirty="0"/>
              <a:t> time isn</a:t>
            </a:r>
            <a:r>
              <a:rPr lang="en-US" dirty="0">
                <a:latin typeface="Verdana" panose="020B0604030504040204" pitchFamily="34" charset="0"/>
              </a:rPr>
              <a:t>’</a:t>
            </a:r>
            <a:r>
              <a:rPr lang="en-US" dirty="0"/>
              <a:t>t getting cheaper</a:t>
            </a:r>
          </a:p>
          <a:p>
            <a:r>
              <a:rPr lang="en-US" dirty="0"/>
              <a:t>Design it correctly now, or pay for it later</a:t>
            </a:r>
          </a:p>
          <a:p>
            <a:r>
              <a:rPr lang="en-US" dirty="0"/>
              <a:t>Disasters happen</a:t>
            </a:r>
          </a:p>
          <a:p>
            <a:pPr lvl="1"/>
            <a:r>
              <a:rPr lang="en-US" dirty="0"/>
              <a:t>Therac-25 radiation therapy machine </a:t>
            </a:r>
            <a:r>
              <a:rPr lang="en-US" sz="2000" dirty="0"/>
              <a:t>(https://hackaday.com/2015/10/26/killed-by-a-machine-the-therac-25</a:t>
            </a:r>
            <a:r>
              <a:rPr lang="en-US" sz="2000" dirty="0" smtClean="0"/>
              <a:t>/)</a:t>
            </a:r>
            <a:endParaRPr lang="en-US" sz="2000" dirty="0"/>
          </a:p>
          <a:p>
            <a:pPr lvl="1"/>
            <a:r>
              <a:rPr lang="en-US" dirty="0" smtClean="0"/>
              <a:t>Aegis radar system in USS Vincennes</a:t>
            </a:r>
          </a:p>
          <a:p>
            <a:pPr lvl="1"/>
            <a:r>
              <a:rPr lang="en-US" dirty="0" smtClean="0"/>
              <a:t>Supertanker </a:t>
            </a:r>
            <a:r>
              <a:rPr lang="en-US" dirty="0"/>
              <a:t>accident off England </a:t>
            </a:r>
            <a:r>
              <a:rPr lang="en-US" sz="2000" dirty="0"/>
              <a:t>(https://</a:t>
            </a:r>
            <a:r>
              <a:rPr lang="en-US" sz="2000" dirty="0" smtClean="0"/>
              <a:t>www.theguardian.com/environment/2017/mar/18/torrey-canyon-disaster-uk-worst-ever-oil-spill-50tha-anniversary)</a:t>
            </a:r>
            <a:endParaRPr lang="en-US" sz="2000" dirty="0"/>
          </a:p>
          <a:p>
            <a:pPr lvl="1"/>
            <a:r>
              <a:rPr lang="en-US" dirty="0"/>
              <a:t>Predator UAV accident in Arizona</a:t>
            </a:r>
          </a:p>
          <a:p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90600" y="6019800"/>
            <a:ext cx="4408487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00519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00063"/>
            <a:ext cx="9601200" cy="1325562"/>
          </a:xfrm>
        </p:spPr>
        <p:txBody>
          <a:bodyPr/>
          <a:lstStyle/>
          <a:p>
            <a:r>
              <a:rPr lang="en-US" b="1" dirty="0" smtClean="0"/>
              <a:t>User Interfaces Are Hard to Design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57200" y="1735138"/>
            <a:ext cx="110490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sz="3200" dirty="0"/>
              <a:t>You are not the user</a:t>
            </a:r>
          </a:p>
          <a:p>
            <a:pPr lvl="1"/>
            <a:r>
              <a:rPr lang="en-US" sz="2800" dirty="0"/>
              <a:t>Most software engineering is about communicating with other programmers</a:t>
            </a:r>
          </a:p>
          <a:p>
            <a:pPr lvl="1"/>
            <a:r>
              <a:rPr lang="en-US" sz="2800" dirty="0"/>
              <a:t>UI is about communicating with users</a:t>
            </a:r>
          </a:p>
          <a:p>
            <a:r>
              <a:rPr lang="en-US" sz="3200" dirty="0"/>
              <a:t>The user is always right</a:t>
            </a:r>
          </a:p>
          <a:p>
            <a:pPr lvl="1"/>
            <a:r>
              <a:rPr lang="en-US" sz="2800" dirty="0"/>
              <a:t>Consistent problems are the system</a:t>
            </a:r>
            <a:r>
              <a:rPr lang="en-US" sz="2800" dirty="0">
                <a:latin typeface="Verdana" panose="020B0604030504040204" pitchFamily="34" charset="0"/>
              </a:rPr>
              <a:t>’</a:t>
            </a:r>
            <a:r>
              <a:rPr lang="en-US" sz="2800" dirty="0"/>
              <a:t>s fault</a:t>
            </a:r>
          </a:p>
          <a:p>
            <a:r>
              <a:rPr lang="en-US" sz="3200" dirty="0"/>
              <a:t>...but the user is not always right, either</a:t>
            </a:r>
          </a:p>
          <a:p>
            <a:pPr lvl="1"/>
            <a:r>
              <a:rPr lang="en-US" sz="2800" dirty="0"/>
              <a:t>Users aren</a:t>
            </a:r>
            <a:r>
              <a:rPr lang="en-US" sz="2800" dirty="0">
                <a:latin typeface="Verdana" panose="020B0604030504040204" pitchFamily="34" charset="0"/>
              </a:rPr>
              <a:t>’</a:t>
            </a:r>
            <a:r>
              <a:rPr lang="en-US" sz="2800" dirty="0"/>
              <a:t>t designers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28625" y="5903913"/>
            <a:ext cx="4403725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49226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00061"/>
            <a:ext cx="7886700" cy="1325563"/>
          </a:xfrm>
        </p:spPr>
        <p:txBody>
          <a:bodyPr/>
          <a:lstStyle/>
          <a:p>
            <a:r>
              <a:rPr lang="en-US" b="1" dirty="0" smtClean="0"/>
              <a:t>Usability Defined</a:t>
            </a:r>
          </a:p>
        </p:txBody>
      </p:sp>
      <p:sp>
        <p:nvSpPr>
          <p:cNvPr id="20483" name="Rectangle 3"/>
          <p:cNvSpPr txBox="1">
            <a:spLocks noChangeArrowheads="1"/>
          </p:cNvSpPr>
          <p:nvPr/>
        </p:nvSpPr>
        <p:spPr bwMode="auto">
          <a:xfrm>
            <a:off x="381000" y="1825626"/>
            <a:ext cx="106680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b="1" dirty="0" smtClean="0"/>
              <a:t>USABILITY</a:t>
            </a:r>
            <a:r>
              <a:rPr lang="en-US" dirty="0" smtClean="0"/>
              <a:t>: </a:t>
            </a:r>
            <a:r>
              <a:rPr lang="en-US" dirty="0"/>
              <a:t>how well</a:t>
            </a:r>
            <a:r>
              <a:rPr lang="en-US" b="1" dirty="0"/>
              <a:t> </a:t>
            </a:r>
            <a:r>
              <a:rPr lang="en-US" dirty="0"/>
              <a:t>users can use the system</a:t>
            </a:r>
            <a:r>
              <a:rPr lang="en-US" dirty="0">
                <a:latin typeface="Verdana" panose="020B0604030504040204" pitchFamily="34" charset="0"/>
              </a:rPr>
              <a:t>’</a:t>
            </a:r>
            <a:r>
              <a:rPr lang="en-US" dirty="0"/>
              <a:t>s </a:t>
            </a:r>
            <a:r>
              <a:rPr lang="en-US" dirty="0" smtClean="0"/>
              <a:t>functionality</a:t>
            </a:r>
          </a:p>
          <a:p>
            <a:endParaRPr lang="en-US" dirty="0"/>
          </a:p>
          <a:p>
            <a:r>
              <a:rPr lang="en-US" b="1" dirty="0"/>
              <a:t>Dimensions of usability</a:t>
            </a:r>
          </a:p>
          <a:p>
            <a:pPr lvl="1"/>
            <a:r>
              <a:rPr lang="en-US" dirty="0"/>
              <a:t>Learnability: is it easy to learn?</a:t>
            </a:r>
          </a:p>
          <a:p>
            <a:pPr lvl="1"/>
            <a:r>
              <a:rPr lang="en-US" dirty="0"/>
              <a:t>Efficiency: once learned, is it fast to use?</a:t>
            </a:r>
          </a:p>
          <a:p>
            <a:pPr lvl="1"/>
            <a:r>
              <a:rPr lang="en-US" dirty="0"/>
              <a:t>Visibility: is the state of the system visible?</a:t>
            </a:r>
          </a:p>
          <a:p>
            <a:pPr lvl="1"/>
            <a:r>
              <a:rPr lang="en-US" dirty="0" smtClean="0"/>
              <a:t>Errors/Safety: </a:t>
            </a:r>
            <a:r>
              <a:rPr lang="en-US" dirty="0"/>
              <a:t>are errors few and recoverable?</a:t>
            </a:r>
          </a:p>
          <a:p>
            <a:pPr lvl="1"/>
            <a:r>
              <a:rPr lang="en-US" dirty="0" smtClean="0"/>
              <a:t>Satisfaction/Aesthetics: </a:t>
            </a:r>
            <a:r>
              <a:rPr lang="en-US" dirty="0"/>
              <a:t>is it enjoyable to use</a:t>
            </a:r>
            <a:r>
              <a:rPr lang="en-US" dirty="0" smtClean="0"/>
              <a:t>?</a:t>
            </a:r>
          </a:p>
          <a:p>
            <a:pPr lvl="1"/>
            <a:r>
              <a:rPr lang="en-US" dirty="0" err="1" smtClean="0"/>
              <a:t>Ergonomis</a:t>
            </a:r>
            <a:r>
              <a:rPr lang="en-US" dirty="0" smtClean="0"/>
              <a:t>: is it comfort to use?</a:t>
            </a:r>
            <a:endParaRPr lang="en-US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096000"/>
            <a:ext cx="4187825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637018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10439400" cy="1325563"/>
          </a:xfrm>
        </p:spPr>
        <p:txBody>
          <a:bodyPr/>
          <a:lstStyle/>
          <a:p>
            <a:r>
              <a:rPr lang="en-US" b="1" dirty="0" smtClean="0"/>
              <a:t>Usability Dimensions Vary In Importance</a:t>
            </a:r>
          </a:p>
        </p:txBody>
      </p:sp>
      <p:sp>
        <p:nvSpPr>
          <p:cNvPr id="21507" name="Rectangle 3"/>
          <p:cNvSpPr txBox="1">
            <a:spLocks noChangeArrowheads="1"/>
          </p:cNvSpPr>
          <p:nvPr/>
        </p:nvSpPr>
        <p:spPr bwMode="auto">
          <a:xfrm>
            <a:off x="990600" y="1935163"/>
            <a:ext cx="100584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dirty="0"/>
              <a:t>Depends on the user</a:t>
            </a:r>
          </a:p>
          <a:p>
            <a:pPr lvl="1"/>
            <a:r>
              <a:rPr lang="en-US" dirty="0"/>
              <a:t>Novice users need learnability</a:t>
            </a:r>
          </a:p>
          <a:p>
            <a:pPr lvl="1"/>
            <a:r>
              <a:rPr lang="en-US" dirty="0"/>
              <a:t>Infrequent users need memorability</a:t>
            </a:r>
          </a:p>
          <a:p>
            <a:pPr lvl="1"/>
            <a:r>
              <a:rPr lang="en-US" dirty="0"/>
              <a:t>Experts need </a:t>
            </a:r>
            <a:r>
              <a:rPr lang="en-US" dirty="0" smtClean="0"/>
              <a:t>efficiency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But no user is uniformly novice or expert</a:t>
            </a:r>
          </a:p>
          <a:p>
            <a:pPr lvl="1"/>
            <a:r>
              <a:rPr lang="en-US" dirty="0"/>
              <a:t>Domain experience</a:t>
            </a:r>
          </a:p>
          <a:p>
            <a:pPr lvl="1"/>
            <a:r>
              <a:rPr lang="en-US" dirty="0"/>
              <a:t>Application experience</a:t>
            </a:r>
          </a:p>
          <a:p>
            <a:pPr lvl="1"/>
            <a:r>
              <a:rPr lang="en-US" dirty="0"/>
              <a:t>Feature experience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4800" y="6019800"/>
            <a:ext cx="4024313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2866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04812" y="533400"/>
            <a:ext cx="10339387" cy="1325562"/>
          </a:xfrm>
        </p:spPr>
        <p:txBody>
          <a:bodyPr/>
          <a:lstStyle/>
          <a:p>
            <a:r>
              <a:rPr lang="en-US" b="1" dirty="0" smtClean="0"/>
              <a:t>Usability </a:t>
            </a:r>
            <a:r>
              <a:rPr lang="en-US" b="1" dirty="0" smtClean="0"/>
              <a:t>is </a:t>
            </a:r>
            <a:r>
              <a:rPr lang="en-US" b="1" dirty="0" smtClean="0"/>
              <a:t>Only One Attribute of a System</a:t>
            </a:r>
          </a:p>
        </p:txBody>
      </p:sp>
      <p:sp>
        <p:nvSpPr>
          <p:cNvPr id="22531" name="Rectangle 3"/>
          <p:cNvSpPr txBox="1">
            <a:spLocks noChangeArrowheads="1"/>
          </p:cNvSpPr>
          <p:nvPr/>
        </p:nvSpPr>
        <p:spPr bwMode="auto">
          <a:xfrm>
            <a:off x="685799" y="1858962"/>
            <a:ext cx="10058399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dirty="0"/>
              <a:t>Software designers have a lot to worry about:</a:t>
            </a:r>
          </a:p>
          <a:p>
            <a:pPr lvl="1"/>
            <a:r>
              <a:rPr lang="en-US" dirty="0"/>
              <a:t>Functionality		</a:t>
            </a:r>
            <a:r>
              <a:rPr lang="en-US" b="1" dirty="0">
                <a:solidFill>
                  <a:schemeClr val="accent1"/>
                </a:solidFill>
                <a:latin typeface="Gill Sans MT" panose="020B0502020104020203" pitchFamily="34" charset="0"/>
              </a:rPr>
              <a:t>–</a:t>
            </a:r>
            <a:r>
              <a:rPr lang="en-US" b="1" dirty="0">
                <a:solidFill>
                  <a:schemeClr val="accent1"/>
                </a:solidFill>
              </a:rPr>
              <a:t> Usability</a:t>
            </a:r>
          </a:p>
          <a:p>
            <a:pPr lvl="1"/>
            <a:r>
              <a:rPr lang="en-US" dirty="0"/>
              <a:t>Performance		</a:t>
            </a:r>
            <a:r>
              <a:rPr lang="en-US" dirty="0" smtClean="0">
                <a:latin typeface="Gill Sans MT" panose="020B0502020104020203" pitchFamily="34" charset="0"/>
              </a:rPr>
              <a:t>–</a:t>
            </a:r>
            <a:r>
              <a:rPr lang="en-US" dirty="0" smtClean="0"/>
              <a:t> </a:t>
            </a:r>
            <a:r>
              <a:rPr lang="en-US" dirty="0"/>
              <a:t>Size</a:t>
            </a:r>
          </a:p>
          <a:p>
            <a:pPr lvl="1"/>
            <a:r>
              <a:rPr lang="en-US" dirty="0"/>
              <a:t>Cost			</a:t>
            </a:r>
            <a:r>
              <a:rPr lang="en-US" dirty="0" smtClean="0">
                <a:latin typeface="Gill Sans MT" panose="020B0502020104020203" pitchFamily="34" charset="0"/>
              </a:rPr>
              <a:t>–</a:t>
            </a:r>
            <a:r>
              <a:rPr lang="en-US" dirty="0" smtClean="0"/>
              <a:t> </a:t>
            </a:r>
            <a:r>
              <a:rPr lang="en-US" dirty="0"/>
              <a:t>Reliability</a:t>
            </a:r>
          </a:p>
          <a:p>
            <a:pPr lvl="1"/>
            <a:r>
              <a:rPr lang="en-US" dirty="0"/>
              <a:t>Security			</a:t>
            </a:r>
            <a:r>
              <a:rPr lang="en-US" dirty="0" smtClean="0">
                <a:latin typeface="Gill Sans MT" panose="020B0502020104020203" pitchFamily="34" charset="0"/>
              </a:rPr>
              <a:t>–</a:t>
            </a:r>
            <a:r>
              <a:rPr lang="en-US" dirty="0" smtClean="0"/>
              <a:t> </a:t>
            </a:r>
            <a:r>
              <a:rPr lang="en-US" dirty="0"/>
              <a:t>Standards</a:t>
            </a:r>
          </a:p>
          <a:p>
            <a:r>
              <a:rPr lang="en-US" dirty="0"/>
              <a:t>Many design decisions involve tradeoffs among different attributes</a:t>
            </a:r>
          </a:p>
          <a:p>
            <a:r>
              <a:rPr lang="en-US" dirty="0"/>
              <a:t>We</a:t>
            </a:r>
            <a:r>
              <a:rPr lang="en-US" dirty="0">
                <a:latin typeface="Verdana" panose="020B0604030504040204" pitchFamily="34" charset="0"/>
              </a:rPr>
              <a:t>’</a:t>
            </a:r>
            <a:r>
              <a:rPr lang="en-US" dirty="0"/>
              <a:t>ll take an extreme position in this class</a:t>
            </a:r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09600" y="5854700"/>
            <a:ext cx="4078288" cy="365125"/>
          </a:xfrm>
        </p:spPr>
        <p:txBody>
          <a:bodyPr/>
          <a:lstStyle/>
          <a:p>
            <a:pPr>
              <a:defRPr/>
            </a:pPr>
            <a:r>
              <a:rPr lang="en-US" sz="1050" dirty="0" err="1">
                <a:solidFill>
                  <a:schemeClr val="tx1"/>
                </a:solidFill>
              </a:rPr>
              <a:t>Disadur</a:t>
            </a:r>
            <a:r>
              <a:rPr lang="en-US" sz="1050" dirty="0">
                <a:solidFill>
                  <a:schemeClr val="tx1"/>
                </a:solidFill>
              </a:rPr>
              <a:t> </a:t>
            </a:r>
            <a:r>
              <a:rPr lang="en-US" sz="1050" dirty="0" err="1">
                <a:solidFill>
                  <a:schemeClr val="tx1"/>
                </a:solidFill>
              </a:rPr>
              <a:t>dari</a:t>
            </a:r>
            <a:r>
              <a:rPr lang="en-US" sz="1050" dirty="0">
                <a:solidFill>
                  <a:schemeClr val="tx1"/>
                </a:solidFill>
              </a:rPr>
              <a:t>  6.813/6.831 User Interface Design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1640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752600"/>
            <a:ext cx="6226486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187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46942" y="2133600"/>
            <a:ext cx="84708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 err="1"/>
              <a:t>Sesi</a:t>
            </a:r>
            <a:r>
              <a:rPr lang="en-US" sz="6000" b="1"/>
              <a:t> Introduction Berakhir</a:t>
            </a:r>
            <a:endParaRPr lang="en-US" sz="6000" b="1" dirty="0"/>
          </a:p>
          <a:p>
            <a:pPr algn="ctr"/>
            <a:r>
              <a:rPr lang="en-US" sz="6000" b="1" dirty="0"/>
              <a:t>TERIMA KASIH</a:t>
            </a:r>
          </a:p>
        </p:txBody>
      </p:sp>
    </p:spTree>
    <p:extLst>
      <p:ext uri="{BB962C8B-B14F-4D97-AF65-F5344CB8AC3E}">
        <p14:creationId xmlns:p14="http://schemas.microsoft.com/office/powerpoint/2010/main" val="255722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HAS_URLS" val="oh hey this is notes box, due to this not being an empty string. woot."/>
</p:tagLst>
</file>

<file path=ppt/theme/theme1.xml><?xml version="1.0" encoding="utf-8"?>
<a:theme xmlns:a="http://schemas.openxmlformats.org/drawingml/2006/main" name="Unpad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pad" id="{838AE8CD-ACCD-43B5-A11D-B87015102E73}" vid="{7EA89ED8-0A9A-4AB3-BDA1-44B5B96772ED}"/>
    </a:ext>
  </a:extLst>
</a:theme>
</file>

<file path=ppt/theme/theme2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Unpad</Template>
  <TotalTime>536</TotalTime>
  <Words>497</Words>
  <Application>Microsoft Office PowerPoint</Application>
  <PresentationFormat>Widescreen</PresentationFormat>
  <Paragraphs>107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ＭＳ Ｐゴシック</vt:lpstr>
      <vt:lpstr>ＭＳ Ｐゴシック</vt:lpstr>
      <vt:lpstr>Arial</vt:lpstr>
      <vt:lpstr>Calibri</vt:lpstr>
      <vt:lpstr>Calibri Light</vt:lpstr>
      <vt:lpstr>Century Schoolbook</vt:lpstr>
      <vt:lpstr>Gill Sans MT</vt:lpstr>
      <vt:lpstr>Times New Roman</vt:lpstr>
      <vt:lpstr>Verdana</vt:lpstr>
      <vt:lpstr>Unpad</vt:lpstr>
      <vt:lpstr>PowerPoint Presentation</vt:lpstr>
      <vt:lpstr>MIRA SURYANI, SPd., M.Kom|MCE</vt:lpstr>
      <vt:lpstr>PowerPoint Presentation</vt:lpstr>
      <vt:lpstr>User Interface Hall of Shame #1</vt:lpstr>
      <vt:lpstr>User Interface Hall of Shame #1</vt:lpstr>
      <vt:lpstr>The Example, Redesigned</vt:lpstr>
      <vt:lpstr>User Interface Hall of Shame #2</vt:lpstr>
      <vt:lpstr>User Interface Hall of Shame #2</vt:lpstr>
      <vt:lpstr>User Interface Hall of Fame #1</vt:lpstr>
      <vt:lpstr>The User Interface Is Important</vt:lpstr>
      <vt:lpstr>The Cost of Getting It Wrong</vt:lpstr>
      <vt:lpstr>User Interfaces Are Hard to Design</vt:lpstr>
      <vt:lpstr>Usability Defined</vt:lpstr>
      <vt:lpstr>Usability Dimensions Vary In Importance</vt:lpstr>
      <vt:lpstr>Usability is Only One Attribute of a System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Mira Suryani</dc:creator>
  <cp:lastModifiedBy>Mira Suryani</cp:lastModifiedBy>
  <cp:revision>45</cp:revision>
  <dcterms:created xsi:type="dcterms:W3CDTF">2017-02-19T17:44:30Z</dcterms:created>
  <dcterms:modified xsi:type="dcterms:W3CDTF">2018-02-19T19:36:34Z</dcterms:modified>
</cp:coreProperties>
</file>